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1994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375660@studenti.unimore.i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30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Home Safety System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IoT Monitoring &amp; Response Platform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and Internet of Things Software Architectures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Modena and Reggio Emilia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Tulay Ece Yildirim</a:t>
            </a:r>
            <a:r>
              <a:rPr lang="tr-T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375660</a:t>
            </a:r>
            <a:r>
              <a:rPr lang="tr-T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</a:t>
            </a:r>
            <a:r>
              <a:rPr lang="tr-T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375660@studenti.unimore.it</a:t>
            </a:r>
            <a:r>
              <a:rPr lang="tr-T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5486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Context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Challenges in Modern Smart Homes</a:t>
            </a:r>
            <a:endParaRPr lang="en-US" sz="1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202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8745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Intrusion Detection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Unauthorized entry when residents away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651760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260604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Hazard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temperature and smoke detection</a:t>
            </a:r>
            <a:endParaRPr lang="en-US" sz="14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383280"/>
            <a:ext cx="365760" cy="3657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333756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Leak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consumption spike detection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029200" y="1645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5029200" y="210312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Real-time monitoring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Automated threat detection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Immediate safety responses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Distributed IoT architecture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Event logging &amp; audit trail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5486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0" y="1188720"/>
            <a:ext cx="3657600" cy="548640"/>
          </a:xfrm>
          <a:prstGeom prst="rect">
            <a:avLst/>
          </a:prstGeom>
          <a:solidFill>
            <a:srgbClr val="F8FAFC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" name="Text 3"/>
          <p:cNvSpPr/>
          <p:nvPr/>
        </p:nvSpPr>
        <p:spPr>
          <a:xfrm>
            <a:off x="2743200" y="11887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Observers &amp; Apps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18059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HTTP/REST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2057400"/>
            <a:ext cx="0" cy="248194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  <p:txBody>
          <a:bodyPr/>
          <a:lstStyle/>
          <a:p>
            <a:endParaRPr lang="tr-TR"/>
          </a:p>
        </p:txBody>
      </p:sp>
      <p:sp>
        <p:nvSpPr>
          <p:cNvPr id="8" name="Shape 6"/>
          <p:cNvSpPr/>
          <p:nvPr/>
        </p:nvSpPr>
        <p:spPr>
          <a:xfrm>
            <a:off x="1913708" y="2491740"/>
            <a:ext cx="5270861" cy="94052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9" name="Text 7"/>
          <p:cNvSpPr/>
          <p:nvPr/>
        </p:nvSpPr>
        <p:spPr>
          <a:xfrm>
            <a:off x="1730829" y="237744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Collector &amp; Manager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MQTT Client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 | Device Registry | State Store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0" y="34681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Broker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008120"/>
            <a:ext cx="2468880" cy="457200"/>
          </a:xfrm>
          <a:prstGeom prst="rect">
            <a:avLst/>
          </a:prstGeom>
          <a:solidFill>
            <a:srgbClr val="F8FAFC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3" name="Text 11"/>
          <p:cNvSpPr/>
          <p:nvPr/>
        </p:nvSpPr>
        <p:spPr>
          <a:xfrm>
            <a:off x="640080" y="4008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459377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Door/Window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4008120"/>
            <a:ext cx="2468880" cy="457200"/>
          </a:xfrm>
          <a:prstGeom prst="rect">
            <a:avLst/>
          </a:prstGeom>
          <a:solidFill>
            <a:srgbClr val="F8FAFC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3337560" y="4008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37560" y="459377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| Switch | Sprinkler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80760" y="4008120"/>
            <a:ext cx="2468880" cy="457200"/>
          </a:xfrm>
          <a:prstGeom prst="rect">
            <a:avLst/>
          </a:prstGeom>
          <a:solidFill>
            <a:srgbClr val="F8FAFC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Text 17"/>
          <p:cNvSpPr/>
          <p:nvPr/>
        </p:nvSpPr>
        <p:spPr>
          <a:xfrm>
            <a:off x="6080760" y="4008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Devices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35040" y="459377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| Gas | Electricity | Water</a:t>
            </a:r>
            <a:endParaRPr lang="en-US" sz="1000" dirty="0"/>
          </a:p>
        </p:txBody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7ACBF38B-EF7A-65F1-0430-911020C69F03}"/>
              </a:ext>
            </a:extLst>
          </p:cNvPr>
          <p:cNvSpPr/>
          <p:nvPr/>
        </p:nvSpPr>
        <p:spPr>
          <a:xfrm>
            <a:off x="4572000" y="3705497"/>
            <a:ext cx="0" cy="248194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  <p:txBody>
          <a:bodyPr/>
          <a:lstStyle/>
          <a:p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5486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Pattern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371600" y="1280160"/>
            <a:ext cx="6400800" cy="64008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5" name="Text 3"/>
          <p:cNvSpPr/>
          <p:nvPr/>
        </p:nvSpPr>
        <p:spPr>
          <a:xfrm>
            <a:off x="1371600" y="128016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Event-Driven Architecture</a:t>
            </a:r>
            <a:endParaRPr lang="en-US" sz="24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860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2860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new devices without modifying central manager. Each device operates independently.</a:t>
            </a:r>
            <a:endParaRPr lang="en-US" sz="16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2004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32004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 Coupling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communicate through message broker, unaware of each other. Failure isolation.</a:t>
            </a:r>
            <a:endParaRPr lang="en-US" sz="16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228600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852160" y="22860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Response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processed immediately as they occur. Critical for safety applications.</a:t>
            </a:r>
            <a:endParaRPr lang="en-US" sz="16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3200400"/>
            <a:ext cx="457200" cy="4572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852160" y="32004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Standard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Aligns with AWS IoT, Azure IoT Hub, Google Cloud IoT best practices.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914400" y="4206240"/>
            <a:ext cx="7315200" cy="640080"/>
          </a:xfrm>
          <a:prstGeom prst="rect">
            <a:avLst/>
          </a:prstGeom>
          <a:solidFill>
            <a:srgbClr val="F8FAFC"/>
          </a:solidFill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Text 9"/>
          <p:cNvSpPr/>
          <p:nvPr/>
        </p:nvSpPr>
        <p:spPr>
          <a:xfrm>
            <a:off x="1188720" y="420624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Publish/Subscribe Pattern: Devices publish events → Manager reacts → Commands dispatched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5486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Protocols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931920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(Device ↔ Manager)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931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&amp; Efficient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Publish/Subscribe pattern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QoS levels for reliability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connections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standard (Eclipse Paho)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Topic: home/&lt;home_id&gt;/&lt;device_id&gt;/&lt;channel&gt;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280160"/>
            <a:ext cx="3931920" cy="4572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9" name="Text 7"/>
          <p:cNvSpPr/>
          <p:nvPr/>
        </p:nvSpPr>
        <p:spPr>
          <a:xfrm>
            <a:off x="4846320" y="12801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HTTP/REST (Observer ↔ Manager)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931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Ubiquitous support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operations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Cacheable responses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Request/response pattern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integration (FastAPI)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3383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Endpoints: /status, /config, /devices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28800" y="4114800"/>
            <a:ext cx="5486400" cy="822960"/>
          </a:xfrm>
          <a:prstGeom prst="rect">
            <a:avLst/>
          </a:prstGeom>
          <a:solidFill>
            <a:srgbClr val="F8FAFC"/>
          </a:solidFill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3" name="Text 11"/>
          <p:cNvSpPr/>
          <p:nvPr/>
        </p:nvSpPr>
        <p:spPr>
          <a:xfrm>
            <a:off x="2103120" y="411480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Format: JSON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Human-readable | Language-agnostic | Flexible schema | Native FastAPI support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5486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Device Ecosystem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Emulated Devices Across 3 Categories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7863840" cy="30175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Data/Command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door_1, window_1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env_1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open: bool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temperature, pm10: float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alarm_controller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alarm_switch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sprinkler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mobile_light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cmd: set(on: bool)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cmd: set(armed: bool)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cmd: set(on: bool)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cmd: set(on, level)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gas_meter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electricity_meter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water_meter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telemetry: total, delta, supply_on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cmd: set(supply_on: bool)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4754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devices publish to MQTT topic: home/home_1/&lt;device_id&gt;/{telemetry|state|cmd}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5486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Rule Engine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651760" cy="1188720"/>
          </a:xfrm>
          <a:prstGeom prst="rect">
            <a:avLst/>
          </a:prstGeom>
          <a:solidFill>
            <a:srgbClr val="F8FAFC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37160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1: Intrusion</a:t>
            </a:r>
            <a:endParaRPr lang="en-US" sz="14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Condition:</a:t>
            </a: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armed=True + door open</a:t>
            </a:r>
            <a:endParaRPr lang="en-US" sz="14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Actions:</a:t>
            </a: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ON + Light HIGH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383280" y="1188720"/>
            <a:ext cx="2651760" cy="1188720"/>
          </a:xfrm>
          <a:prstGeom prst="rect">
            <a:avLst/>
          </a:prstGeom>
          <a:solidFill>
            <a:srgbClr val="F8FAFC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3716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14800" y="137160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2: Fire</a:t>
            </a:r>
            <a:endParaRPr lang="en-US" sz="14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Condition:</a:t>
            </a: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temp≥60°C + pm10≥150</a:t>
            </a:r>
            <a:endParaRPr lang="en-US" sz="14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Actions:</a:t>
            </a: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ON + Sprinkler 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217920" y="1188720"/>
            <a:ext cx="2651760" cy="1188720"/>
          </a:xfrm>
          <a:prstGeom prst="rect">
            <a:avLst/>
          </a:prstGeom>
          <a:solidFill>
            <a:srgbClr val="F8FAFC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37160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949440" y="137160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3: Gas Leak</a:t>
            </a:r>
            <a:endParaRPr lang="en-US" sz="14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Condition:</a:t>
            </a: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delta/prev ≥ 2.0x spike</a:t>
            </a:r>
            <a:endParaRPr lang="en-US" sz="14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Actions:</a:t>
            </a: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ON + Gas shutoff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4864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6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200400"/>
            <a:ext cx="36576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80160" y="31546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Detection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trigger only on False→True transition, preventing duplicate activations</a:t>
            </a:r>
            <a:endParaRPr lang="en-US" sz="12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0" y="3200400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852160" y="31546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Cooldown Period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5-second buffer prevents command spam during persistent conditions</a:t>
            </a:r>
            <a:endParaRPr lang="en-US" sz="12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3931920"/>
            <a:ext cx="365760" cy="36576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80160" y="3886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Thresholds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parameters adjustable via REST API (temp, pm10, gas_spike_ratio)</a:t>
            </a:r>
            <a:endParaRPr lang="en-US" sz="12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03520" y="3931920"/>
            <a:ext cx="365760" cy="36576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5852160" y="38862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Logging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audit trail in JSONL format: outputs/events.log</a:t>
            </a:r>
            <a:endParaRPr lang="en-US" sz="1200" dirty="0"/>
          </a:p>
        </p:txBody>
      </p:sp>
      <p:sp>
        <p:nvSpPr>
          <p:cNvPr id="22" name="Shape 13"/>
          <p:cNvSpPr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23" name="Text 14"/>
          <p:cNvSpPr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→ Evaluate Rules → Trigger Actions → Log Events → Dispatch Commands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" cy="5486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Highlights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Python 3.10+ | FastAPI | Uvicorn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MQTT: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Eclipse Paho | Mosquitto Broker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Pydantic models | Thread-safe stores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961 lines across 9 Python modules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846320" y="1188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46320" y="164592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state management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switch via telemetry (bidirectional control)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device pattern (sensor + actuator)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Single-home design (scalable to multi-tenant)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Endpoints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74720"/>
          <a:ext cx="8046720" cy="11887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system snapshot (config, devices, telemetry, state)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 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 or update system configuration (thresholds, rules)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/devices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 POST / DELETE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registry CRUD operations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4754880"/>
            <a:ext cx="8046720" cy="274320"/>
          </a:xfrm>
          <a:prstGeom prst="rect">
            <a:avLst/>
          </a:prstGeom>
          <a:solidFill>
            <a:srgbClr val="F8FAFC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Text 8"/>
          <p:cNvSpPr/>
          <p:nvPr/>
        </p:nvSpPr>
        <p:spPr>
          <a:xfrm>
            <a:off x="548640" y="4754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All 3 rules validated  |  ✓ Edge detection verified  |  ✓ Demo script included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30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37605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Results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1352005"/>
            <a:ext cx="6400800" cy="1463040"/>
          </a:xfrm>
          <a:prstGeom prst="rect">
            <a:avLst/>
          </a:prstGeom>
          <a:solidFill>
            <a:srgbClr val="1E3A5F"/>
          </a:solidFill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1645920" y="1534885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Demo Script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Arm system → Trigger intrusion → Alarm + Light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High temp/PM10 → Trigger fire → Alarm + Sprinkler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Gas spike → Trigger gas leak → Alarm + Shutoff</a:t>
            </a:r>
            <a:endParaRPr lang="en-US" sz="1600" dirty="0"/>
          </a:p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events logged to outputs/events.log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997925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Achievements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455125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Fully functional IoT safety system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10 devices, 3 automated rules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Distributed event-driven architecture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MQTT + REST communication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Thread-safe, production-ready code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846320" y="2997925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46320" y="3455125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Multi-home support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storage (database)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UI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integration (AWS IoT)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anomaly detection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598125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815</Words>
  <Application>Microsoft Office PowerPoint</Application>
  <PresentationFormat>On-screen Show (16:9)</PresentationFormat>
  <Paragraphs>170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Home Safety System - IoT Project</dc:title>
  <dc:subject>PptxGenJS Presentation</dc:subject>
  <dc:creator>Tulay Ece Yildirim</dc:creator>
  <cp:lastModifiedBy>Emir Karaaslan</cp:lastModifiedBy>
  <cp:revision>2</cp:revision>
  <dcterms:created xsi:type="dcterms:W3CDTF">2026-02-03T22:04:42Z</dcterms:created>
  <dcterms:modified xsi:type="dcterms:W3CDTF">2026-02-03T22:12:48Z</dcterms:modified>
</cp:coreProperties>
</file>